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1097280"/>
            <a:ext cx="4480560" cy="4480560"/>
          </a:xfrm>
          <a:prstGeom prst="arc">
            <a:avLst/>
          </a:prstGeom>
          <a:noFill/>
          <a:ln w="254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4206240"/>
            <a:ext cx="3657600" cy="3657600"/>
          </a:xfrm>
          <a:prstGeom prst="arc">
            <a:avLst/>
          </a:prstGeom>
          <a:noFill/>
          <a:ln w="25400">
            <a:solidFill>
              <a:srgbClr val="06B6D4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12648"/>
            <a:ext cx="219456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5669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PRESENTATION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</a:rPr>
              <a:t>InterviewSync AI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658368" y="2084832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E7F7"/>
                </a:solidFill>
              </a:rPr>
              <a:t>AI-Powered Real-Time Collaborative Coding Interview Platform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" y="2880360"/>
            <a:ext cx="56692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9D5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full-stack platform combining AI interviewing, live code collaboration, code execution, camera-enabled sessions, proctoring, and analytics.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4160520"/>
            <a:ext cx="777240" cy="347472"/>
          </a:xfrm>
          <a:prstGeom prst="roundRect">
            <a:avLst>
              <a:gd name="adj" fmla="val 21053"/>
            </a:avLst>
          </a:prstGeom>
          <a:solidFill>
            <a:srgbClr val="4F46E5">
              <a:alpha val="95000"/>
            </a:srgbClr>
          </a:solidFill>
          <a:ln w="12700">
            <a:solidFill>
              <a:srgbClr val="4F46E5">
                <a:alpha val="9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4247388"/>
            <a:ext cx="521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React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600200" y="4160520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06B6D4">
              <a:alpha val="95000"/>
            </a:srgbClr>
          </a:solidFill>
          <a:ln w="12700">
            <a:solidFill>
              <a:srgbClr val="06B6D4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28216" y="4247388"/>
            <a:ext cx="704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Node.js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24912" y="416052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10B981">
              <a:alpha val="95000"/>
            </a:srgbClr>
          </a:solidFill>
          <a:ln w="12700">
            <a:solidFill>
              <a:srgbClr val="10B981">
                <a:alpha val="9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52928" y="4247388"/>
            <a:ext cx="886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Socket.IO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41648" y="4160520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F59E0B">
              <a:alpha val="95000"/>
            </a:srgbClr>
          </a:solidFill>
          <a:ln w="12700">
            <a:solidFill>
              <a:srgbClr val="F59E0B">
                <a:alpha val="9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9664" y="4247388"/>
            <a:ext cx="704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Gemini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175504" y="4160520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F43F5E">
              <a:alpha val="95000"/>
            </a:srgbClr>
          </a:solidFill>
          <a:ln w="12700">
            <a:solidFill>
              <a:srgbClr val="F43F5E">
                <a:alpha val="9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4247388"/>
            <a:ext cx="704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Judge0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635240" y="1042416"/>
            <a:ext cx="3566160" cy="4343400"/>
          </a:xfrm>
          <a:prstGeom prst="roundRect">
            <a:avLst>
              <a:gd name="adj" fmla="val 3077"/>
            </a:avLst>
          </a:prstGeom>
          <a:solidFill>
            <a:srgbClr val="0F1D33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82128" y="1417320"/>
            <a:ext cx="3072384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9560" y="20574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twoSum(nums, target) {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909560" y="24048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seen = new Map();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09560" y="27523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(let i = 0; i &lt; nums.length; i++) {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909560" y="309981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(seen.has(target - nums[i])) return true;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909560" y="344728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909560" y="37947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</a:rPr>
              <a:t>InterviewSync AI  /  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914400"/>
            <a:ext cx="4114800" cy="4114800"/>
          </a:xfrm>
          <a:prstGeom prst="arc">
            <a:avLst/>
          </a:prstGeom>
          <a:noFill/>
          <a:ln w="25400">
            <a:solidFill>
              <a:srgbClr val="4F46E5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76072"/>
            <a:ext cx="219456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5303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914400"/>
            <a:ext cx="98755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8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Interview prep is fragmented: practice, coding, proctoring, and feedback live in separate tools.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58368" y="1783080"/>
            <a:ext cx="7955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need one realistic environment that combines interview pressure, live collaboration, code execution, and actionable AI feedback.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74320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0EA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743200"/>
            <a:ext cx="73152" cy="16002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718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11F"/>
                </a:solidFill>
              </a:rPr>
              <a:t>Low realism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20574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7A90"/>
                </a:solidFill>
              </a:rPr>
              <a:t>Mock interviews often miss camera pressure, interruptions, time limits, and interviewer-style follow-ups.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3429000" y="274320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0EA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2743200"/>
            <a:ext cx="73152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9718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11F"/>
                </a:solidFill>
              </a:rPr>
              <a:t>Weak coding workflow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3383280"/>
            <a:ext cx="20574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7A90"/>
                </a:solidFill>
              </a:rPr>
              <a:t>Separate editors make it hard to simulate collaborative coding rounds and review execution results.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172200" y="274320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0EA">
                <a:alpha val="9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743200"/>
            <a:ext cx="73152" cy="1600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9718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11F"/>
                </a:solidFill>
              </a:rPr>
              <a:t>Delayed feedback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383280"/>
            <a:ext cx="20574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7A90"/>
                </a:solidFill>
              </a:rPr>
              <a:t>Candidates do not receive structured scoring across technical depth, clarity, and behavior.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8915400" y="274320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0EA">
                <a:alpha val="9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15400" y="2743200"/>
            <a:ext cx="73152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29718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11F"/>
                </a:solidFill>
              </a:rPr>
              <a:t>No progress loop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0" y="3383280"/>
            <a:ext cx="20574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7A90"/>
                </a:solidFill>
              </a:rPr>
              <a:t>Practice history is rarely connected to a dashboard that shows improvement over time.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InterviewSync AI  /  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1097280"/>
            <a:ext cx="4480560" cy="4480560"/>
          </a:xfrm>
          <a:prstGeom prst="arc">
            <a:avLst/>
          </a:prstGeom>
          <a:noFill/>
          <a:ln w="254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4206240"/>
            <a:ext cx="3657600" cy="3657600"/>
          </a:xfrm>
          <a:prstGeom prst="arc">
            <a:avLst/>
          </a:prstGeom>
          <a:noFill/>
          <a:ln w="25400">
            <a:solidFill>
              <a:srgbClr val="06B6D4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76072"/>
            <a:ext cx="219456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5303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93268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single interview workspace connects AI, camera, collaboration, execution, and analytics.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85800" y="2743200"/>
            <a:ext cx="1600200" cy="1261872"/>
          </a:xfrm>
          <a:prstGeom prst="roundRect">
            <a:avLst>
              <a:gd name="adj" fmla="val 5797"/>
            </a:avLst>
          </a:prstGeom>
          <a:solidFill>
            <a:srgbClr val="111D33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Interviewer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9FB2CC"/>
                </a:solidFill>
              </a:rPr>
              <a:t>Gemini asks and evaluates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441448" y="3236976"/>
            <a:ext cx="320040" cy="201168"/>
          </a:xfrm>
          <a:prstGeom prst="chevron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2743200"/>
            <a:ext cx="1600200" cy="1261872"/>
          </a:xfrm>
          <a:prstGeom prst="roundRect">
            <a:avLst>
              <a:gd name="adj" fmla="val 5797"/>
            </a:avLst>
          </a:prstGeom>
          <a:solidFill>
            <a:srgbClr val="111D33"/>
          </a:solidFill>
          <a:ln w="12700">
            <a:solidFill>
              <a:srgbClr val="06B6D4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9718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Camera Room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33375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9FB2CC"/>
                </a:solidFill>
              </a:rPr>
              <a:t>Participant + interviewer tiles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4818888" y="3236976"/>
            <a:ext cx="320040" cy="201168"/>
          </a:xfrm>
          <a:prstGeom prst="chevron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40680" y="2743200"/>
            <a:ext cx="1600200" cy="1261872"/>
          </a:xfrm>
          <a:prstGeom prst="roundRect">
            <a:avLst>
              <a:gd name="adj" fmla="val 5797"/>
            </a:avLst>
          </a:prstGeom>
          <a:solidFill>
            <a:srgbClr val="111D33"/>
          </a:solidFill>
          <a:ln w="12700">
            <a:solidFill>
              <a:srgbClr val="10B981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9718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 Room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0" y="33375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9FB2CC"/>
                </a:solidFill>
              </a:rPr>
              <a:t>Socket.IO live sync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196328" y="3236976"/>
            <a:ext cx="320040" cy="201168"/>
          </a:xfrm>
          <a:prstGeom prst="chevron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18120" y="2743200"/>
            <a:ext cx="1600200" cy="1261872"/>
          </a:xfrm>
          <a:prstGeom prst="roundRect">
            <a:avLst>
              <a:gd name="adj" fmla="val 5797"/>
            </a:avLst>
          </a:prstGeom>
          <a:solidFill>
            <a:srgbClr val="111D33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29718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Run Code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55280" y="33375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9FB2CC"/>
                </a:solidFill>
              </a:rPr>
              <a:t>Judge0 execution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9573768" y="3236976"/>
            <a:ext cx="320040" cy="201168"/>
          </a:xfrm>
          <a:prstGeom prst="chevron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95560" y="2743200"/>
            <a:ext cx="1600200" cy="1261872"/>
          </a:xfrm>
          <a:prstGeom prst="roundRect">
            <a:avLst>
              <a:gd name="adj" fmla="val 5797"/>
            </a:avLst>
          </a:prstGeom>
          <a:solidFill>
            <a:srgbClr val="111D33"/>
          </a:solidFill>
          <a:ln w="12700">
            <a:solidFill>
              <a:srgbClr val="F43F5E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0" y="29718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Analytics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332720" y="33375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9FB2CC"/>
                </a:solidFill>
              </a:rPr>
              <a:t>Scores, alerts, history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685800" y="4892040"/>
            <a:ext cx="8686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9D5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flow mirrors a real interview: start session, enable camera, answer AI prompts, collaborate in code, execute submissions, and review results.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</a:rPr>
              <a:t>InterviewSync AI  /  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914400"/>
            <a:ext cx="4114800" cy="4114800"/>
          </a:xfrm>
          <a:prstGeom prst="arc">
            <a:avLst/>
          </a:prstGeom>
          <a:noFill/>
          <a:ln w="25400">
            <a:solidFill>
              <a:srgbClr val="4F46E5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76072"/>
            <a:ext cx="219456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5303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914400"/>
            <a:ext cx="94183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8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platform separates user experience, interview intelligence, collaboration, and persistence.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286000"/>
            <a:ext cx="73152" cy="1417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514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11F"/>
                </a:solidFill>
              </a:rPr>
              <a:t>React + Vite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926080"/>
            <a:ext cx="1737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7A90"/>
                </a:solidFill>
              </a:rPr>
              <a:t>Dashboard, interview room, code room, analytics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3429000" y="22860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2286000"/>
            <a:ext cx="73152" cy="1417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514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11F"/>
                </a:solidFill>
              </a:rPr>
              <a:t>Express 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2926080"/>
            <a:ext cx="1737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7A90"/>
                </a:solidFill>
              </a:rPr>
              <a:t>Auth, sessions, AI chat, run-code endpoint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126480" y="22860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2286000"/>
            <a:ext cx="73152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514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11F"/>
                </a:solidFill>
              </a:rPr>
              <a:t>Socket.IO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2926080"/>
            <a:ext cx="1737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7A90"/>
                </a:solidFill>
              </a:rPr>
              <a:t>Real-time code sync, room presence, language state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8823960" y="22860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>
                <a:alpha val="9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228600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2514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11F"/>
                </a:solidFill>
              </a:rPr>
              <a:t>MongoDB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52560" y="2926080"/>
            <a:ext cx="1737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7A90"/>
                </a:solidFill>
              </a:rPr>
              <a:t>Users, sessions, questions, answers, alerts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2880360" y="2999232"/>
            <a:ext cx="4114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577840" y="2999232"/>
            <a:ext cx="4114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75320" y="2999232"/>
            <a:ext cx="4114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777240" y="4754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111F"/>
                </a:solidFill>
              </a:rPr>
              <a:t>External services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23160" y="466344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4F46E5">
              <a:alpha val="95000"/>
            </a:srgbClr>
          </a:solidFill>
          <a:ln w="12700">
            <a:solidFill>
              <a:srgbClr val="4F46E5">
                <a:alpha val="9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51176" y="4750308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Gemini API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794760" y="466344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0B981">
              <a:alpha val="95000"/>
            </a:srgbClr>
          </a:solidFill>
          <a:ln w="12700">
            <a:solidFill>
              <a:srgbClr val="10B981">
                <a:alpha val="9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22776" y="4750308"/>
            <a:ext cx="978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Judge0 API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212080" y="466344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F59E0B">
              <a:alpha val="95000"/>
            </a:srgbClr>
          </a:solidFill>
          <a:ln w="12700">
            <a:solidFill>
              <a:srgbClr val="F59E0B">
                <a:alpha val="9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0096" y="4750308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Web Speech API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995160" y="466344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F43F5E">
              <a:alpha val="95000"/>
            </a:srgbClr>
          </a:solidFill>
          <a:ln w="12700">
            <a:solidFill>
              <a:srgbClr val="F43F5E">
                <a:alpha val="9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23176" y="4750308"/>
            <a:ext cx="1161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MediaDevices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InterviewSync AI  /  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1097280"/>
            <a:ext cx="4480560" cy="4480560"/>
          </a:xfrm>
          <a:prstGeom prst="arc">
            <a:avLst/>
          </a:prstGeom>
          <a:noFill/>
          <a:ln w="254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4206240"/>
            <a:ext cx="3657600" cy="3657600"/>
          </a:xfrm>
          <a:prstGeom prst="arc">
            <a:avLst/>
          </a:prstGeom>
          <a:noFill/>
          <a:ln w="25400">
            <a:solidFill>
              <a:srgbClr val="06B6D4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76072"/>
            <a:ext cx="219456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5303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COLLABORATION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86868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Socket.IO turns the code room into a shared interview workspace.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749808" y="2359152"/>
            <a:ext cx="109728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286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Room access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80360" y="228600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7DA"/>
                </a:solidFill>
              </a:rPr>
              <a:t>Join with room ID and password, public or authenticated route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" y="3072384"/>
            <a:ext cx="109728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9992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 sync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299923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7DA"/>
                </a:solidFill>
              </a:rPr>
              <a:t>Every code change broadcasts to other participants in the same room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9808" y="3785616"/>
            <a:ext cx="109728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71246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Shared language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80360" y="3712464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7DA"/>
                </a:solidFill>
              </a:rPr>
              <a:t>Language selector state is synchronized across clients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9808" y="4498848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4256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Presence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80360" y="442569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7DA"/>
                </a:solidFill>
              </a:rPr>
              <a:t>Participant list updates on join, leave, and disconnect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23960" y="1965960"/>
            <a:ext cx="2423160" cy="2743200"/>
          </a:xfrm>
          <a:prstGeom prst="roundRect">
            <a:avLst>
              <a:gd name="adj" fmla="val 3019"/>
            </a:avLst>
          </a:prstGeom>
          <a:solidFill>
            <a:srgbClr val="111D33"/>
          </a:solidFill>
          <a:ln w="12700">
            <a:solidFill>
              <a:srgbClr val="2636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2423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</a:rPr>
              <a:t>2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44000" y="28620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CA0BA"/>
                </a:solidFill>
              </a:rPr>
              <a:t>users in same room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144000" y="340156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&lt;1s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44000" y="3840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CA0BA"/>
                </a:solidFill>
              </a:rPr>
              <a:t>edit propagation target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</a:rPr>
              <a:t>InterviewSync AI  /  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914400"/>
            <a:ext cx="4114800" cy="4114800"/>
          </a:xfrm>
          <a:prstGeom prst="arc">
            <a:avLst/>
          </a:prstGeom>
          <a:noFill/>
          <a:ln w="25400">
            <a:solidFill>
              <a:srgbClr val="4F46E5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76072"/>
            <a:ext cx="219456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5303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INTERVIEWER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914400"/>
            <a:ext cx="89611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8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Gemini drives the interview loop from question to feedback.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44168" y="2432304"/>
            <a:ext cx="16002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80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111F"/>
                </a:solidFill>
              </a:rPr>
              <a:t>Ask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</a:rPr>
              <a:t>Domain-specific prompt starts the interview.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22402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087368" y="2432304"/>
            <a:ext cx="16002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2880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111F"/>
                </a:solidFill>
              </a:rPr>
              <a:t>Listen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32918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</a:rPr>
              <a:t>Speech-to-text or typed response captures the answer.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22402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830568" y="2432304"/>
            <a:ext cx="16002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880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111F"/>
                </a:solidFill>
              </a:rPr>
              <a:t>Evaluate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32918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</a:rPr>
              <a:t>Scores technical depth, clarity, behavior, and confidence.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006840" y="22402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3F5E"/>
                </a:solidFill>
              </a:rPr>
              <a:t>04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73768" y="2432304"/>
            <a:ext cx="16002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06840" y="2880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111F"/>
                </a:solidFill>
              </a:rPr>
              <a:t>Adapt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06840" y="32918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</a:rPr>
              <a:t>Next question or coding task follows from the answer.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" y="4800600"/>
            <a:ext cx="9966960" cy="640080"/>
          </a:xfrm>
          <a:prstGeom prst="roundRect">
            <a:avLst>
              <a:gd name="adj" fmla="val 11429"/>
            </a:avLst>
          </a:prstGeom>
          <a:solidFill>
            <a:srgbClr val="E0E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501091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4F46E5"/>
                </a:solidFill>
              </a:rPr>
              <a:t>Output: technical_score, clarity_score, depth_score, behavior_score, confidence_score, emotion, behavior_feedback, next_question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InterviewSync AI  /  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1097280"/>
            <a:ext cx="4480560" cy="4480560"/>
          </a:xfrm>
          <a:prstGeom prst="arc">
            <a:avLst/>
          </a:prstGeom>
          <a:noFill/>
          <a:ln w="254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4206240"/>
            <a:ext cx="3657600" cy="3657600"/>
          </a:xfrm>
          <a:prstGeom prst="arc">
            <a:avLst/>
          </a:prstGeom>
          <a:noFill/>
          <a:ln w="25400">
            <a:solidFill>
              <a:srgbClr val="06B6D4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76072"/>
            <a:ext cx="219456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5303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+ PROCTORING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92354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interview room creates pressure while monitoring integrity signals.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148840"/>
            <a:ext cx="4023360" cy="2423160"/>
          </a:xfrm>
          <a:prstGeom prst="roundRect">
            <a:avLst>
              <a:gd name="adj" fmla="val 3019"/>
            </a:avLst>
          </a:prstGeom>
          <a:solidFill>
            <a:srgbClr val="111D33"/>
          </a:solidFill>
          <a:ln w="12700">
            <a:solidFill>
              <a:srgbClr val="2636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Participant Camera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78992" y="288036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02061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3044952"/>
            <a:ext cx="621792" cy="621792"/>
          </a:xfrm>
          <a:prstGeom prst="ellipse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3F5E"/>
                </a:solidFill>
              </a:rPr>
              <a:t>LIVE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623560" y="23317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Face presence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21808" y="238658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28346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5E6"/>
                </a:solidFill>
              </a:rPr>
              <a:t>Multiple-person detection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21808" y="2889504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33375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Tab switch alert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21808" y="339242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38404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5E6"/>
                </a:solidFill>
              </a:rPr>
              <a:t>Restricted object warnings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21808" y="3895344"/>
            <a:ext cx="91440" cy="91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47395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</a:rPr>
              <a:t>InterviewSync AI  /  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914400"/>
            <a:ext cx="4114800" cy="4114800"/>
          </a:xfrm>
          <a:prstGeom prst="arc">
            <a:avLst/>
          </a:prstGeom>
          <a:noFill/>
          <a:ln w="25400">
            <a:solidFill>
              <a:srgbClr val="4F46E5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76072"/>
            <a:ext cx="219456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5303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EXECUTION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914400"/>
            <a:ext cx="89611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8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Judge0 makes the code room practical, not just collaborative.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59E0B">
              <a:alpha val="95000"/>
            </a:srgbClr>
          </a:solidFill>
          <a:ln w="12700">
            <a:solidFill>
              <a:srgbClr val="F59E0B">
                <a:alpha val="9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2098548"/>
            <a:ext cx="886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JavaScript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94560" y="201168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4F46E5">
              <a:alpha val="95000"/>
            </a:srgbClr>
          </a:solidFill>
          <a:ln w="12700">
            <a:solidFill>
              <a:srgbClr val="4F46E5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22576" y="2098548"/>
            <a:ext cx="886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Python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11880" y="201168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43F5E">
              <a:alpha val="95000"/>
            </a:srgbClr>
          </a:solidFill>
          <a:ln w="12700">
            <a:solidFill>
              <a:srgbClr val="F43F5E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9896" y="2098548"/>
            <a:ext cx="886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Java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0" y="201168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10B981">
              <a:alpha val="95000"/>
            </a:srgbClr>
          </a:solidFill>
          <a:ln w="12700">
            <a:solidFill>
              <a:srgbClr val="10B981">
                <a:alpha val="9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57216" y="2098548"/>
            <a:ext cx="886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C++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22960" y="2743200"/>
            <a:ext cx="4754880" cy="1828800"/>
          </a:xfrm>
          <a:prstGeom prst="roundRect">
            <a:avLst>
              <a:gd name="adj" fmla="val 4000"/>
            </a:avLst>
          </a:prstGeom>
          <a:solidFill>
            <a:srgbClr val="07111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9718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Input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34290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source_code + language_id + stdin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97880" y="3456432"/>
            <a:ext cx="502920" cy="320040"/>
          </a:xfrm>
          <a:prstGeom prst="chevron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0840" y="2743200"/>
            <a:ext cx="4389120" cy="18288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29718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Output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95160" y="3401568"/>
            <a:ext cx="34290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11F"/>
                </a:solidFill>
              </a:rPr>
              <a:t>stdout, stderr, compile output,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8111F"/>
                </a:solidFill>
              </a:rPr>
              <a:t>status, time, memory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InterviewSync AI  /  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1097280"/>
            <a:ext cx="4480560" cy="4480560"/>
          </a:xfrm>
          <a:prstGeom prst="arc">
            <a:avLst/>
          </a:prstGeom>
          <a:noFill/>
          <a:ln w="254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4206240"/>
            <a:ext cx="3657600" cy="3657600"/>
          </a:xfrm>
          <a:prstGeom prst="arc">
            <a:avLst/>
          </a:prstGeom>
          <a:noFill/>
          <a:ln w="25400">
            <a:solidFill>
              <a:srgbClr val="06B6D4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76072"/>
            <a:ext cx="219456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5303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89611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Dashboards turn every mock interview into measurable progress.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914400" y="3048610"/>
            <a:ext cx="384048" cy="184343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0109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2CC"/>
                </a:solidFill>
              </a:rPr>
              <a:t>7.2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27632" y="2818181"/>
            <a:ext cx="384048" cy="2073859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81912" y="50109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2CC"/>
                </a:solidFill>
              </a:rPr>
              <a:t>8.1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40864" y="3125419"/>
            <a:ext cx="384048" cy="1766621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95144" y="50109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2CC"/>
                </a:solidFill>
              </a:rPr>
              <a:t>6.9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054096" y="2664562"/>
            <a:ext cx="384048" cy="222747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08376" y="50109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2CC"/>
                </a:solidFill>
              </a:rPr>
              <a:t>8.7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67328" y="2562149"/>
            <a:ext cx="384048" cy="2329891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21608" y="50109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2CC"/>
                </a:solidFill>
              </a:rPr>
              <a:t>9.1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7240" y="4892040"/>
            <a:ext cx="37490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224028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A">
                <a:alpha val="9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2240280"/>
            <a:ext cx="73152" cy="13258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24688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11F"/>
                </a:solidFill>
              </a:rPr>
              <a:t>Scores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06440" y="2880360"/>
            <a:ext cx="15544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7A90"/>
                </a:solidFill>
              </a:rPr>
              <a:t>Technical, clarity, depth, behavior, confidence.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818120" y="224028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A">
                <a:alpha val="9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18120" y="2240280"/>
            <a:ext cx="73152" cy="13258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24688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11F"/>
                </a:solidFill>
              </a:rPr>
              <a:t>Alerts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46720" y="2880360"/>
            <a:ext cx="15544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7A90"/>
                </a:solidFill>
              </a:rPr>
              <a:t>Tab switch, face missing, multi-person warnings.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5577840" y="397764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A">
                <a:alpha val="9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3977640"/>
            <a:ext cx="73152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06440" y="4206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11F"/>
                </a:solidFill>
              </a:rPr>
              <a:t>History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806440" y="4617720"/>
            <a:ext cx="15544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7A90"/>
                </a:solidFill>
              </a:rPr>
              <a:t>Recent sessions and domain-wise performance.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7818120" y="397764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A">
                <a:alpha val="9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18120" y="3977640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0" y="4206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11F"/>
                </a:solidFill>
              </a:rPr>
              <a:t>Feedback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46720" y="4617720"/>
            <a:ext cx="15544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B7A90"/>
                </a:solidFill>
              </a:rPr>
              <a:t>Actionable AI summary for improvement.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</a:rPr>
              <a:t>InterviewSync AI  /  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914400"/>
            <a:ext cx="4114800" cy="4114800"/>
          </a:xfrm>
          <a:prstGeom prst="arc">
            <a:avLst/>
          </a:prstGeom>
          <a:noFill/>
          <a:ln w="25400">
            <a:solidFill>
              <a:srgbClr val="4F46E5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76072"/>
            <a:ext cx="219456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5303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914400"/>
            <a:ext cx="93268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8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next build turns mock interviews into a live hiring simulation.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310896" cy="3108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7008" y="2944368"/>
            <a:ext cx="205740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375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</a:rPr>
              <a:t>Now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73075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</a:rPr>
              <a:t>AI + code room + execution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66160" y="2788920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50208" y="2944368"/>
            <a:ext cx="205740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33375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Next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373075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</a:rPr>
              <a:t>Human interviewer WebRTC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9360" y="2788920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93408" y="2944368"/>
            <a:ext cx="205740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3375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Then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373075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</a:rPr>
              <a:t>Screen sharing + interviewer controls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52560" y="2788920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33375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Later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52560" y="373075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</a:rPr>
              <a:t>Persistent room recordings and review packs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5120640"/>
            <a:ext cx="10332720" cy="658368"/>
          </a:xfrm>
          <a:prstGeom prst="roundRect">
            <a:avLst>
              <a:gd name="adj" fmla="val 11111"/>
            </a:avLst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5340096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Resume positioning: AI-powered real-time collaborative coding interview platform with camera sessions, code execution, proctoring, and analytics.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InterviewSync AI  /  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InterviewSync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InterviewSync AI Project Presentation</dc:title>
  <dc:subject>AI-powered real-time coding interview platform</dc:subject>
  <dc:creator>InterviewSync AI</dc:creator>
  <cp:lastModifiedBy>InterviewSync AI</cp:lastModifiedBy>
  <cp:revision>1</cp:revision>
  <dcterms:created xsi:type="dcterms:W3CDTF">2026-05-23T11:31:22Z</dcterms:created>
  <dcterms:modified xsi:type="dcterms:W3CDTF">2026-05-23T11:31:22Z</dcterms:modified>
</cp:coreProperties>
</file>